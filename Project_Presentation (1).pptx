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Phishing Awareness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Using Social Engineering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9553" y="2011680"/>
            <a:ext cx="554241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rPr dirty="0"/>
              <a:t>Major Project – Cybersecurity</a:t>
            </a:r>
          </a:p>
          <a:p>
            <a:pPr algn="ctr">
              <a:defRPr sz="2200"/>
            </a:pPr>
            <a:r>
              <a:rPr dirty="0"/>
              <a:t>Prepared by: Y</a:t>
            </a:r>
            <a:r>
              <a:rPr lang="en-IN" dirty="0"/>
              <a:t>ash and Sharyu Pravin Ghorpade</a:t>
            </a:r>
            <a:endParaRPr dirty="0"/>
          </a:p>
          <a:p>
            <a:pPr algn="ctr">
              <a:defRPr sz="1800"/>
            </a:pPr>
            <a:r>
              <a:rPr dirty="0"/>
              <a:t>Academic internship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Phishing exploits human trust, urgency, fear and curiosity.</a:t>
            </a:r>
          </a:p>
          <a:p>
            <a:pPr>
              <a:spcAft>
                <a:spcPts val="1000"/>
              </a:spcAft>
              <a:defRPr sz="2000"/>
            </a:pPr>
            <a:r>
              <a:t>Users may click links or attempt to disclose credentials before verifying a request.</a:t>
            </a:r>
          </a:p>
          <a:p>
            <a:pPr>
              <a:spcAft>
                <a:spcPts val="1000"/>
              </a:spcAft>
              <a:defRPr sz="2000"/>
            </a:pPr>
            <a:r>
              <a:t>Organizations need awareness testing that is measurable and safe.</a:t>
            </a:r>
          </a:p>
          <a:p>
            <a:pPr>
              <a:spcAft>
                <a:spcPts val="1000"/>
              </a:spcAft>
              <a:defRPr sz="2000"/>
            </a:pPr>
            <a:r>
              <a:t>This project demonstrates the behavior without collecting real credentials.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Understand common phishing and social-engineering techniques.</a:t>
            </a:r>
          </a:p>
          <a:p>
            <a:pPr>
              <a:spcAft>
                <a:spcPts val="1000"/>
              </a:spcAft>
              <a:defRPr sz="2000"/>
            </a:pPr>
            <a:r>
              <a:t>Design a realistic but harmless simulated email.</a:t>
            </a:r>
          </a:p>
          <a:p>
            <a:pPr>
              <a:spcAft>
                <a:spcPts val="1000"/>
              </a:spcAft>
              <a:defRPr sz="2000"/>
            </a:pPr>
            <a:r>
              <a:t>Build a local demonstration login page using HTML/CSS/JavaScript.</a:t>
            </a:r>
          </a:p>
          <a:p>
            <a:pPr>
              <a:spcAft>
                <a:spcPts val="1000"/>
              </a:spcAft>
              <a:defRPr sz="2000"/>
            </a:pPr>
            <a:r>
              <a:t>Measure clicks, demonstration data-entry attempts and reports.</a:t>
            </a:r>
          </a:p>
          <a:p>
            <a:pPr>
              <a:spcAft>
                <a:spcPts val="1000"/>
              </a:spcAft>
              <a:defRPr sz="2000"/>
            </a:pPr>
            <a:r>
              <a:t>Analyze results and recommend preventive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Phishing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Unexpected account or security warning</a:t>
            </a:r>
          </a:p>
          <a:p>
            <a:pPr>
              <a:spcAft>
                <a:spcPts val="1000"/>
              </a:spcAft>
              <a:defRPr sz="1900"/>
            </a:pPr>
            <a:r>
              <a:t>Urgent deadline or threat of account restriction</a:t>
            </a:r>
          </a:p>
          <a:p>
            <a:pPr>
              <a:spcAft>
                <a:spcPts val="1000"/>
              </a:spcAft>
              <a:defRPr sz="1900"/>
            </a:pPr>
            <a:r>
              <a:t>Generic greeting or unusual sender details</a:t>
            </a:r>
          </a:p>
          <a:p>
            <a:pPr>
              <a:spcAft>
                <a:spcPts val="1000"/>
              </a:spcAft>
              <a:defRPr sz="1900"/>
            </a:pPr>
            <a:r>
              <a:t>Request to click a link or open an attachment</a:t>
            </a:r>
          </a:p>
          <a:p>
            <a:pPr>
              <a:spcAft>
                <a:spcPts val="1000"/>
              </a:spcAft>
              <a:defRPr sz="1900"/>
            </a:pPr>
            <a:r>
              <a:t>Request for passwords or sensitive information</a:t>
            </a:r>
          </a:p>
          <a:p>
            <a:pPr>
              <a:spcAft>
                <a:spcPts val="1000"/>
              </a:spcAft>
              <a:defRPr sz="1900"/>
            </a:pPr>
            <a:r>
              <a:t>Safer response: pause, verify through a known channel, then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Landing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Simulation 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Demo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Results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40" y="2532888"/>
            <a:ext cx="50292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4983480" y="2532888"/>
            <a:ext cx="50292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360920" y="2532888"/>
            <a:ext cx="50292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Local-only application</a:t>
            </a:r>
          </a:p>
          <a:p>
            <a:pPr>
              <a:spcAft>
                <a:spcPts val="1000"/>
              </a:spcAft>
              <a:defRPr sz="1700"/>
            </a:pPr>
            <a:r>
              <a:t>Browser localStorage stores aggregate counters only</a:t>
            </a:r>
          </a:p>
          <a:p>
            <a:pPr>
              <a:spcAft>
                <a:spcPts val="1000"/>
              </a:spcAft>
              <a:defRPr sz="1700"/>
            </a:pPr>
            <a:r>
              <a:t>No backend and no external credential transmission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Ethical and Safety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Informed consent is required before testing.</a:t>
            </a:r>
          </a:p>
          <a:p>
            <a:pPr>
              <a:spcAft>
                <a:spcPts val="1000"/>
              </a:spcAft>
              <a:defRPr sz="1800"/>
            </a:pPr>
            <a:r>
              <a:t>Reserved .example sender/domain; no real organization impersonation.</a:t>
            </a:r>
          </a:p>
          <a:p>
            <a:pPr>
              <a:spcAft>
                <a:spcPts val="1000"/>
              </a:spcAft>
              <a:defRPr sz="1800"/>
            </a:pPr>
            <a:r>
              <a:t>No email delivery or external tracking.</a:t>
            </a:r>
          </a:p>
          <a:p>
            <a:pPr>
              <a:spcAft>
                <a:spcPts val="1000"/>
              </a:spcAft>
              <a:defRPr sz="1800"/>
            </a:pPr>
            <a:r>
              <a:t>No real password should ever be entered.</a:t>
            </a:r>
          </a:p>
          <a:p>
            <a:pPr>
              <a:spcAft>
                <a:spcPts val="1000"/>
              </a:spcAft>
              <a:defRPr sz="1800"/>
            </a:pPr>
            <a:r>
              <a:t>Form values are discarded; only the event is counted.</a:t>
            </a:r>
          </a:p>
          <a:p>
            <a:pPr>
              <a:spcAft>
                <a:spcPts val="1000"/>
              </a:spcAft>
              <a:defRPr sz="1800"/>
            </a:pPr>
            <a:r>
              <a:t>Results should be anonymized and reported in aggregate.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HTML5: landing page, email simulation and login interface</a:t>
            </a:r>
          </a:p>
          <a:p>
            <a:pPr>
              <a:spcAft>
                <a:spcPts val="1000"/>
              </a:spcAft>
              <a:defRPr sz="1800"/>
            </a:pPr>
            <a:r>
              <a:t>CSS3: responsive and presentation-friendly interface</a:t>
            </a:r>
          </a:p>
          <a:p>
            <a:pPr>
              <a:spcAft>
                <a:spcPts val="1000"/>
              </a:spcAft>
              <a:defRPr sz="1800"/>
            </a:pPr>
            <a:r>
              <a:t>JavaScript: local event counters and dashboard</a:t>
            </a:r>
          </a:p>
          <a:p>
            <a:pPr>
              <a:spcAft>
                <a:spcPts val="1000"/>
              </a:spcAft>
              <a:defRPr sz="1800"/>
            </a:pPr>
            <a:r>
              <a:t>Python + Pandas: result analysis</a:t>
            </a:r>
          </a:p>
          <a:p>
            <a:pPr>
              <a:spcAft>
                <a:spcPts val="1000"/>
              </a:spcAft>
              <a:defRPr sz="1800"/>
            </a:pPr>
            <a:r>
              <a:t>Matplotlib: demonstration results chart</a:t>
            </a:r>
          </a:p>
          <a:p>
            <a:pPr>
              <a:spcAft>
                <a:spcPts val="1000"/>
              </a:spcAft>
              <a:defRPr sz="1800"/>
            </a:pPr>
            <a:r>
              <a:t>Local HTTP server: safe classroom/lab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Demonstration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Participant reads consent and starts the simulation.</a:t>
            </a:r>
          </a:p>
          <a:p>
            <a:pPr>
              <a:spcAft>
                <a:spcPts val="1000"/>
              </a:spcAft>
              <a:defRPr sz="1800"/>
            </a:pPr>
            <a:r>
              <a:t>2. Participant sees the simulated account-warning email.</a:t>
            </a:r>
          </a:p>
          <a:p>
            <a:pPr>
              <a:spcAft>
                <a:spcPts val="1000"/>
              </a:spcAft>
              <a:defRPr sz="1800"/>
            </a:pPr>
            <a:r>
              <a:t>3. Participant may report it, ignore it, or click the link.</a:t>
            </a:r>
          </a:p>
          <a:p>
            <a:pPr>
              <a:spcAft>
                <a:spcPts val="1000"/>
              </a:spcAft>
              <a:defRPr sz="1800"/>
            </a:pPr>
            <a:r>
              <a:t>4. If the demo login is reached, any submitted values are discarded.</a:t>
            </a:r>
          </a:p>
          <a:p>
            <a:pPr>
              <a:spcAft>
                <a:spcPts val="1000"/>
              </a:spcAft>
              <a:defRPr sz="1800"/>
            </a:pPr>
            <a:r>
              <a:t>5. Dashboard records aggregate behavioral counters.</a:t>
            </a:r>
          </a:p>
          <a:p>
            <a:pPr>
              <a:spcAft>
                <a:spcPts val="1000"/>
              </a:spcAft>
              <a:defRPr sz="1800"/>
            </a:pPr>
            <a:r>
              <a:t>6. Researcher analyzes results and provides awareness feedback.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Demonstration Results (Synthetic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20" y="995591"/>
            <a:ext cx="6788988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dirty="0"/>
              <a:t>Participants: </a:t>
            </a:r>
            <a:r>
              <a:rPr lang="en-IN" dirty="0"/>
              <a:t>29</a:t>
            </a:r>
            <a:endParaRPr dirty="0"/>
          </a:p>
          <a:p>
            <a:pPr>
              <a:spcAft>
                <a:spcPts val="1000"/>
              </a:spcAft>
              <a:defRPr sz="1700"/>
            </a:pPr>
            <a:r>
              <a:rPr dirty="0"/>
              <a:t>Link clicks: </a:t>
            </a:r>
            <a:r>
              <a:rPr lang="en-IN" dirty="0"/>
              <a:t>24</a:t>
            </a:r>
            <a:r>
              <a:rPr dirty="0"/>
              <a:t> (</a:t>
            </a:r>
            <a:r>
              <a:rPr lang="en-IN" dirty="0"/>
              <a:t>82.8</a:t>
            </a:r>
            <a:r>
              <a:rPr dirty="0"/>
              <a:t>%)</a:t>
            </a:r>
          </a:p>
          <a:p>
            <a:pPr>
              <a:spcAft>
                <a:spcPts val="1000"/>
              </a:spcAft>
              <a:defRPr sz="1700"/>
            </a:pPr>
            <a:r>
              <a:rPr dirty="0"/>
              <a:t>Demo data-entry attempts: </a:t>
            </a:r>
            <a:r>
              <a:rPr lang="en-IN" dirty="0"/>
              <a:t>10</a:t>
            </a:r>
            <a:r>
              <a:rPr dirty="0"/>
              <a:t> (3</a:t>
            </a:r>
            <a:r>
              <a:rPr lang="en-IN" dirty="0"/>
              <a:t>4</a:t>
            </a:r>
            <a:r>
              <a:rPr dirty="0"/>
              <a:t>.</a:t>
            </a:r>
            <a:r>
              <a:rPr lang="en-IN" dirty="0"/>
              <a:t>5</a:t>
            </a:r>
            <a:r>
              <a:rPr dirty="0"/>
              <a:t>%)</a:t>
            </a:r>
          </a:p>
          <a:p>
            <a:pPr>
              <a:spcAft>
                <a:spcPts val="1000"/>
              </a:spcAft>
              <a:defRPr sz="1700"/>
            </a:pPr>
            <a:r>
              <a:rPr dirty="0"/>
              <a:t>Reports: </a:t>
            </a:r>
            <a:r>
              <a:rPr lang="en-IN" dirty="0"/>
              <a:t>9</a:t>
            </a:r>
            <a:r>
              <a:rPr dirty="0"/>
              <a:t> (</a:t>
            </a:r>
            <a:r>
              <a:rPr lang="en-IN" dirty="0"/>
              <a:t>31</a:t>
            </a:r>
            <a:r>
              <a:rPr dirty="0"/>
              <a:t>.0%)</a:t>
            </a:r>
          </a:p>
          <a:p>
            <a:pPr>
              <a:spcAft>
                <a:spcPts val="1000"/>
              </a:spcAft>
              <a:defRPr sz="1700"/>
            </a:pPr>
            <a:r>
              <a:rPr dirty="0"/>
              <a:t>These values are synthetic demonstration data, not a real participant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63B355-063F-624A-D697-055243754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917" y="3028989"/>
            <a:ext cx="7223774" cy="34175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Urgency and account warnings can increase risky interaction.</a:t>
            </a:r>
          </a:p>
          <a:p>
            <a:pPr>
              <a:spcAft>
                <a:spcPts val="1000"/>
              </a:spcAft>
              <a:defRPr sz="1800"/>
            </a:pPr>
            <a:r>
              <a:t>A click is not the same as credential disclosure, so multiple metrics are useful.</a:t>
            </a:r>
          </a:p>
          <a:p>
            <a:pPr>
              <a:spcAft>
                <a:spcPts val="1000"/>
              </a:spcAft>
              <a:defRPr sz="1800"/>
            </a:pPr>
            <a:r>
              <a:t>Reporting is a positive security behavior that should be encouraged.</a:t>
            </a:r>
          </a:p>
          <a:p>
            <a:pPr>
              <a:spcAft>
                <a:spcPts val="1000"/>
              </a:spcAft>
              <a:defRPr sz="1800"/>
            </a:pPr>
            <a:r>
              <a:t>Safe simulations can teach phishing cues without harvesting credentials.</a:t>
            </a:r>
          </a:p>
          <a:p>
            <a:pPr>
              <a:spcAft>
                <a:spcPts val="1000"/>
              </a:spcAft>
              <a:defRPr sz="1800"/>
            </a:pPr>
            <a:r>
              <a:t>Technical controls and user awareness must work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Preventive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User awareness: pause, inspect, verify and report.</a:t>
            </a:r>
          </a:p>
          <a:p>
            <a:pPr>
              <a:spcAft>
                <a:spcPts val="1000"/>
              </a:spcAft>
              <a:defRPr sz="1700"/>
            </a:pPr>
            <a:r>
              <a:t>MFA: use strong multi-factor authentication; prefer phishing-resistant methods where supported.</a:t>
            </a:r>
          </a:p>
          <a:p>
            <a:pPr>
              <a:spcAft>
                <a:spcPts val="1000"/>
              </a:spcAft>
              <a:defRPr sz="1700"/>
            </a:pPr>
            <a:r>
              <a:t>Email security: filtering, URL protection and attachment scanning.</a:t>
            </a:r>
          </a:p>
          <a:p>
            <a:pPr>
              <a:spcAft>
                <a:spcPts val="1000"/>
              </a:spcAft>
              <a:defRPr sz="1700"/>
            </a:pPr>
            <a:r>
              <a:t>Least privilege: limit access to only what each role needs.</a:t>
            </a:r>
          </a:p>
          <a:p>
            <a:pPr>
              <a:spcAft>
                <a:spcPts val="1000"/>
              </a:spcAft>
              <a:defRPr sz="1700"/>
            </a:pPr>
            <a:r>
              <a:t>Password hygiene: unique passwords/passphrases and password managers.</a:t>
            </a:r>
          </a:p>
          <a:p>
            <a:pPr>
              <a:spcAft>
                <a:spcPts val="1000"/>
              </a:spcAft>
              <a:defRPr sz="1700"/>
            </a:pPr>
            <a:r>
              <a:t>Incident response: fast reporting and credential-reset procedures.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 project provides a safe local phishing-awareness simulation.</a:t>
            </a:r>
          </a:p>
          <a:p>
            <a:pPr>
              <a:spcAft>
                <a:spcPts val="1000"/>
              </a:spcAft>
              <a:defRPr sz="1800"/>
            </a:pPr>
            <a:r>
              <a:t>Behavioral metrics can identify awareness gaps and guide training.</a:t>
            </a:r>
          </a:p>
          <a:p>
            <a:pPr>
              <a:spcAft>
                <a:spcPts val="1000"/>
              </a:spcAft>
              <a:defRPr sz="1800"/>
            </a:pPr>
            <a:r>
              <a:t>The strongest defense combines people, process and technology.</a:t>
            </a:r>
          </a:p>
          <a:p>
            <a:pPr>
              <a:spcAft>
                <a:spcPts val="1000"/>
              </a:spcAft>
              <a:defRPr sz="1800"/>
            </a:pPr>
            <a:r>
              <a:t>Key references: FTC phishing guidance; NIST SP 800-63B; CISA phishing guidance.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consumer.ftc.gov  •  pages.nist.gov/800-63-4/  •  cisa.gov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Cybersecurity Internship Major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645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yadav</cp:lastModifiedBy>
  <cp:revision>2</cp:revision>
  <dcterms:created xsi:type="dcterms:W3CDTF">2013-01-27T09:14:16Z</dcterms:created>
  <dcterms:modified xsi:type="dcterms:W3CDTF">2026-08-28T14:30:39Z</dcterms:modified>
  <cp:category/>
</cp:coreProperties>
</file>